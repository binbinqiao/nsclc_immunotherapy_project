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5"/>
    <p:sldId id="263" r:id="rId9"/>
    <p:sldId id="267" r:id="rId13"/>
    <p:sldId id="271" r:id="rId17"/>
    <p:sldId id="275" r:id="rId21"/>
    <p:sldId id="279" r:id="rId25"/>
    <p:sldId id="283" r:id="rId29"/>
    <p:sldId id="287" r:id="rId33"/>
    <p:sldId id="291" r:id="rId37"/>
    <p:sldId id="295" r:id="rId41"/>
  </p:sldIdLst>
  <p:notesMasterIdLst>
    <p:notesMasterId r:id="rId42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9" Type="http://schemas.openxmlformats.org/officeDocument/2006/relationships/slide" Target="slides/slide2.xml"/><Relationship Id="rId13" Type="http://schemas.openxmlformats.org/officeDocument/2006/relationships/slide" Target="slides/slide3.xml"/><Relationship Id="rId17" Type="http://schemas.openxmlformats.org/officeDocument/2006/relationships/slide" Target="slides/slide4.xml"/><Relationship Id="rId21" Type="http://schemas.openxmlformats.org/officeDocument/2006/relationships/slide" Target="slides/slide5.xml"/><Relationship Id="rId25" Type="http://schemas.openxmlformats.org/officeDocument/2006/relationships/slide" Target="slides/slide6.xml"/><Relationship Id="rId29" Type="http://schemas.openxmlformats.org/officeDocument/2006/relationships/slide" Target="slides/slide7.xml"/><Relationship Id="rId33" Type="http://schemas.openxmlformats.org/officeDocument/2006/relationships/slide" Target="slides/slide8.xml"/><Relationship Id="rId37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英文原题：Inhibition of protein kinase CK2 remodels the tumor immune microenvironment and sensitizes lung cancer to PD-L1 blockade。共同第一作者：Sijia Zhang、Lihua Luo、Yangang Qu、Yan Zong；通讯作者 Rui Meng。</a:t>
            </a:r>
          </a:p>
          <a:p/>
          <a:p>
            <a:r>
              <a:t>图表与文献来源：Zhang S et al. Exp Hematol Oncol. 2026;15:48. DOI: 10.1186/s40164-026-00778-0 | 原文摘要及 Fig.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临床数据均为回顾性收集。104 例手术队列中 CK2α 低表达 14 例、高表达 90 例；20 例免疫治疗队列低表达 8 例、高表达 12 例。CK2 活性以 p-AKT Ser129 作为药效学读数。</a:t>
            </a:r>
          </a:p>
          <a:p/>
          <a:p>
            <a:r>
              <a:t>图表与文献来源：Zhang S et al. Exp Hematol Oncol. 2026;15:48. DOI: 10.1186/s40164-026-00778-0 | Methods；Figs. 1–9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Fig. 1 为原始患者队列的生存与免疫浸润结果。Table 2：低 CK2α 组 PR=7、SD=1、PD=0；高 CK2α 组 PR=0、SD=2、PD=10。组间分布 P&lt;0.001。病例数有限，切勿将该结果表述为成熟的临床预测工具。</a:t>
            </a:r>
          </a:p>
          <a:p/>
          <a:p>
            <a:r>
              <a:t>图表与文献来源：Zhang S et al. Exp Hematol Oncol. 2026;15:48. DOI: 10.1186/s40164-026-00778-0 | Fig. 1C–F；Table 2；Fig.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TBB 10 mg/kg 腹腔注射。肿瘤生长、生存及主要流式定量为 n=5。图中部分流式和免疫荧光图像为代表性样本，不应将代表图数量误当成所有定量的样本量。</a:t>
            </a:r>
          </a:p>
          <a:p/>
          <a:p>
            <a:r>
              <a:t>图表与文献来源：Zhang S et al. Exp Hematol Oncol. 2026;15:48. DOI: 10.1186/s40164-026-00778-0 | Fig. 3I–R；主要定量 n=5/组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LLC 皮下移植模型。单药仅有限延缓生长，而联合组显著增强疗效。再挑战对照为 naïve 小鼠。原文描述体重总体稳定；不能据此推断临床安全性。</a:t>
            </a:r>
          </a:p>
          <a:p/>
          <a:p>
            <a:r>
              <a:t>图表与文献来源：Zhang S et al. Exp Hematol Oncol. 2026;15:48. DOI: 10.1186/s40164-026-00778-0 | Fig. 4D–H；n=8/组，再挑战 n=4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CX4945（silmitasertib）为生物可利用的 CK2 抑制剂；SGC-CK2-1 为高选择性化学探针。Fig. 6 的人 CD8⁺ T 细胞与 pCasper 靶细胞共培养也显示杀伤增强（n=3），为额外功能支持；该靶细胞实验不应直接等同于肺癌患者疗效。</a:t>
            </a:r>
          </a:p>
          <a:p/>
          <a:p>
            <a:r>
              <a:t>图表与文献来源：Zhang S et al. Exp Hematol Oncol. 2026;15:48. DOI: 10.1186/s40164-026-00778-0 | Fig. 5D–M；n=6/组；另见 Fig.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药理抑制及 CK2α siRNA 均降低 PD-L1 蛋白。IFN-γ 刺激诱导的 PD-L1 上调也受到抑制。转录增加与蛋白降低并不矛盾；论文提出早期蛋白周转与延迟炎症/干扰素反馈的分层解释，反馈来源仍需进一步实验。</a:t>
            </a:r>
          </a:p>
          <a:p/>
          <a:p>
            <a:r>
              <a:t>图表与文献来源：Zhang S et al. Exp Hematol Oncol. 2026;15:48. DOI: 10.1186/s40164-026-00778-0 | Fig. 7F–G；Fig. 9A–D；主要实验 n=3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PD-L1 免疫沉淀后检测 ubiquitin 可见 CK2 抑制增加泛素化。TRAF6 siRNA 使这一效应减弱，野生型 TRAF6 过表达促进降解。原文尚未直接解析 CK2 如何调控 TRAF6 的全部上游环节，不应把 CK2 与 TRAF6 的直接磷酸化关系写成已证实。</a:t>
            </a:r>
          </a:p>
          <a:p/>
          <a:p>
            <a:r>
              <a:t>图表与文献来源：Zhang S et al. Exp Hematol Oncol. 2026;15:48. DOI: 10.1186/s40164-026-00778-0 | Fig. 8；Fig. 9A–K；主要实验 n=3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K281 最初由预测和结构建模提出，关键功能证据来自 K281A 突变后的泛素化与蛋白稳定性实验。请避免将计算预测本身描述为位点的实验直接测定。图 10 为论文作者的机制模型。</a:t>
            </a:r>
          </a:p>
          <a:p/>
          <a:p>
            <a:r>
              <a:t>图表与文献来源：Zhang S et al. Exp Hematol Oncol. 2026;15:48. DOI: 10.1186/s40164-026-00778-0 | Fig. 9L–Q（n=3）；Fig. 10 原始示意图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本研究支持机制与临床前合理性，但未开展人体 CK2 抑制剂联合抗 PD-L1 的治疗性临床试验。关于疗效、安全性以及预测标志物的结论应保持相应证据等级。</a:t>
            </a:r>
          </a:p>
          <a:p/>
          <a:p>
            <a:r>
              <a:t>图表与文献来源：Zhang S et al. Exp Hematol Oncol. 2026;15:48. DOI: 10.1186/s40164-026-00778-0 | Discussion；Conclusions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Relationship Id="rId6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Relationship Id="rId6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Relationship Id="rId6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Relationship Id="rId6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Relationship Id="rId6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Relationship Id="rId6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Relationship Id="rId6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7132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5C4B"/>
                </a:solidFill>
                <a:latin typeface="Noto Sans CJK SC"/>
              </a:defRPr>
            </a:pPr>
            <a:r>
              <a:t>文献汇报 · 肺癌免疫治疗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7315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8766F"/>
                </a:solidFill>
                <a:latin typeface="Noto Sans CJK SC"/>
              </a:defRPr>
            </a:pPr>
            <a:r>
              <a:t>肺癌免疫治疗 · 学术文献汇报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30759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21E"/>
                </a:solidFill>
                <a:latin typeface="Noto Sans CJK SC"/>
              </a:defRPr>
            </a:pPr>
            <a:r>
              <a:t>抑制 CK2，增敏肺癌免疫治疗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337560"/>
            <a:ext cx="13075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35C4B"/>
                </a:solidFill>
                <a:latin typeface="Noto Sans CJK SC"/>
              </a:defRPr>
            </a:pPr>
            <a:r>
              <a:t>CK2–TRAF6–PD-L1 轴与肿瘤免疫微环境重塑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1206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35C4B"/>
                </a:solidFill>
                <a:latin typeface="Noto Sans CJK SC"/>
              </a:defRPr>
            </a:pPr>
            <a:r>
              <a:t>研究论文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577840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21E"/>
                </a:solidFill>
                <a:latin typeface="Noto Sans CJK SC"/>
              </a:defRPr>
            </a:pPr>
            <a:r>
              <a:t>Sijia Zhang 等；Experimental Hematology &amp; Oncology，2026，15:48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8072" y="51206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35C4B"/>
                </a:solidFill>
                <a:latin typeface="Noto Sans CJK SC"/>
              </a:defRPr>
            </a:pPr>
            <a:r>
              <a:t>核心发现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8072" y="5577840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21E"/>
                </a:solidFill>
                <a:latin typeface="Noto Sans CJK SC"/>
              </a:defRPr>
            </a:pPr>
            <a:r>
              <a:t>临床关联、免疫功能与位点机制构成相互支持的证据链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82911" y="51206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35C4B"/>
                </a:solidFill>
                <a:latin typeface="Noto Sans CJK SC"/>
              </a:defRPr>
            </a:pPr>
            <a:r>
              <a:t>证据定位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82911" y="5577840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21E"/>
                </a:solidFill>
                <a:latin typeface="Noto Sans CJK SC"/>
              </a:defRPr>
            </a:pPr>
            <a:r>
              <a:t>患者回顾性队列＋临床前模型；尚非临床联合治疗结论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7159752"/>
            <a:ext cx="13213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66F"/>
                </a:solidFill>
                <a:latin typeface="Noto Sans CJK SC"/>
              </a:defRPr>
            </a:pPr>
            <a:r>
              <a:t>Zhang S et al. Exp Hematol Oncol. 2026;15:48. DOI: 10.1186/s40164-026-00778-0 | 原文摘要及 Fig.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7132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5C4B"/>
                </a:solidFill>
                <a:latin typeface="Noto Sans CJK SC"/>
              </a:defRPr>
            </a:pPr>
            <a:r>
              <a:t>01 · 研究问题与设计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7315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8766F"/>
                </a:solidFill>
                <a:latin typeface="Noto Sans CJK SC"/>
              </a:defRPr>
            </a:pPr>
            <a:r>
              <a:t>从临床关联到位点机制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3075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21E"/>
                </a:solidFill>
                <a:latin typeface="Noto Sans CJK SC"/>
              </a:defRPr>
            </a:pPr>
            <a:r>
              <a:t>从临床关联到位点机制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1460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35C4B"/>
                </a:solidFill>
                <a:latin typeface="Noto Sans CJK SC"/>
              </a:defRPr>
            </a:pPr>
            <a:r>
              <a:t>临床层面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971800"/>
            <a:ext cx="60350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21E"/>
                </a:solidFill>
                <a:latin typeface="Noto Sans CJK SC"/>
              </a:defRPr>
            </a:pPr>
            <a:r>
              <a:t>手术队列 104 例；一线免疫治疗独立队列 20 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8352" y="251460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35C4B"/>
                </a:solidFill>
                <a:latin typeface="Noto Sans CJK SC"/>
              </a:defRPr>
            </a:pPr>
            <a:r>
              <a:t>外部验证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8352" y="2971800"/>
            <a:ext cx="60350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21E"/>
                </a:solidFill>
                <a:latin typeface="Noto Sans CJK SC"/>
              </a:defRPr>
            </a:pPr>
            <a:r>
              <a:t>TCGA：933 例肿瘤、99 例正常组织；分析预后及免疫浸润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34340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35C4B"/>
                </a:solidFill>
                <a:latin typeface="Noto Sans CJK SC"/>
              </a:defRPr>
            </a:pPr>
            <a:r>
              <a:t>疗效验证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00600"/>
            <a:ext cx="60350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21E"/>
                </a:solidFill>
                <a:latin typeface="Noto Sans CJK SC"/>
              </a:defRPr>
            </a:pPr>
            <a:r>
              <a:t>LLC / C57BL/6 模型；TBB、CX4945、SGC-CK2-1 联合抗 PD-L1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8352" y="434340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35C4B"/>
                </a:solidFill>
                <a:latin typeface="Noto Sans CJK SC"/>
              </a:defRPr>
            </a:pPr>
            <a:r>
              <a:t>机制验证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8352" y="4800600"/>
            <a:ext cx="60350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21E"/>
                </a:solidFill>
                <a:latin typeface="Noto Sans CJK SC"/>
              </a:defRPr>
            </a:pPr>
            <a:r>
              <a:t>RNA-seq、CHX 追踪、MG132、Co-IP；TRAF6-C70A 与 PD-L1-K281A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46520"/>
            <a:ext cx="1307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35C4B"/>
                </a:solidFill>
                <a:latin typeface="Noto Sans CJK SC"/>
              </a:defRPr>
            </a:pPr>
            <a:r>
              <a:t>以临床队列提出假设，在免疫完整模型中验证疗效，再以遗传与生化实验建立机制。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7159752"/>
            <a:ext cx="13213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66F"/>
                </a:solidFill>
                <a:latin typeface="Noto Sans CJK SC"/>
              </a:defRPr>
            </a:pPr>
            <a:r>
              <a:t>Zhang S et al. Exp Hematol Oncol. 2026;15:48. DOI: 10.1186/s40164-026-00778-0 | Methods；Figs. 1–9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7132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5C4B"/>
                </a:solidFill>
                <a:latin typeface="Noto Sans CJK SC"/>
              </a:defRPr>
            </a:pPr>
            <a:r>
              <a:t>02 · 临床与外部证据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7315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8766F"/>
                </a:solidFill>
                <a:latin typeface="Noto Sans CJK SC"/>
              </a:defRPr>
            </a:pPr>
            <a:r>
              <a:t>CK2α 高表达关联免疫抑制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3075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21E"/>
                </a:solidFill>
                <a:latin typeface="Noto Sans CJK SC"/>
              </a:defRPr>
            </a:pPr>
            <a:r>
              <a:t>CK2α 高表达关联免疫抑制</a:t>
            </a:r>
          </a:p>
        </p:txBody>
      </p:sp>
      <p:pic>
        <p:nvPicPr>
          <p:cNvPr id="8" name="Picture 7" descr="clinic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2936738"/>
            <a:ext cx="8732520" cy="32522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38360" y="2487168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35C4B"/>
                </a:solidFill>
                <a:latin typeface="Noto Sans CJK SC"/>
              </a:defRPr>
            </a:pPr>
            <a:r>
              <a:t>手术队列 · n=104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2788920"/>
            <a:ext cx="4160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1E"/>
                </a:solidFill>
                <a:latin typeface="Noto Sans CJK SC"/>
              </a:defRPr>
            </a:pPr>
            <a:r>
              <a:t>高表达组 DFS / OS 更差，并伴 CD8⁺ T 细胞浸润减少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3401568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35C4B"/>
                </a:solidFill>
                <a:latin typeface="Noto Sans CJK SC"/>
              </a:defRPr>
            </a:pPr>
            <a:r>
              <a:t>免疫治疗队列 · n=20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3703320"/>
            <a:ext cx="4160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1E"/>
                </a:solidFill>
                <a:latin typeface="Noto Sans CJK SC"/>
              </a:defRPr>
            </a:pPr>
            <a:r>
              <a:t>低表达组 PR 7/8；高表达组 PR 0/12，PD 10/12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4315968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35C4B"/>
                </a:solidFill>
                <a:latin typeface="Noto Sans CJK SC"/>
              </a:defRPr>
            </a:pPr>
            <a:r>
              <a:t>外部证据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4617720"/>
            <a:ext cx="4160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1E"/>
                </a:solidFill>
                <a:latin typeface="Noto Sans CJK SC"/>
              </a:defRPr>
            </a:pPr>
            <a:r>
              <a:t>TCGA 与临床观察方向一致；相关性不等同于因果关系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5486400"/>
            <a:ext cx="416052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35C4B"/>
                </a:solidFill>
                <a:latin typeface="Noto Sans CJK SC"/>
              </a:defRPr>
            </a:pPr>
            <a:r>
              <a:t>CK2α 是候选预后及免疫治疗相关标志物，预测价值仍需前瞻性验证。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7159752"/>
            <a:ext cx="13213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66F"/>
                </a:solidFill>
                <a:latin typeface="Noto Sans CJK SC"/>
              </a:defRPr>
            </a:pPr>
            <a:r>
              <a:t>Zhang S et al. Exp Hematol Oncol. 2026;15:48. DOI: 10.1186/s40164-026-00778-0 | Fig. 1D–F；Table 2；Fig.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7132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5C4B"/>
                </a:solidFill>
                <a:latin typeface="Noto Sans CJK SC"/>
              </a:defRPr>
            </a:pPr>
            <a:r>
              <a:t>03 · 免疫微环境重塑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7315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8766F"/>
                </a:solidFill>
                <a:latin typeface="Noto Sans CJK SC"/>
              </a:defRPr>
            </a:pPr>
            <a:r>
              <a:t>CK2 抑制重塑 T 细胞状态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3075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21E"/>
                </a:solidFill>
                <a:latin typeface="Noto Sans CJK SC"/>
              </a:defRPr>
            </a:pPr>
            <a:r>
              <a:t>CK2 抑制重塑 T 细胞状态</a:t>
            </a:r>
          </a:p>
        </p:txBody>
      </p:sp>
      <p:pic>
        <p:nvPicPr>
          <p:cNvPr id="8" name="Picture 7" descr="immu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726" y="2459736"/>
            <a:ext cx="8209819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38360" y="2487168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35C4B"/>
                </a:solidFill>
                <a:latin typeface="Noto Sans CJK SC"/>
              </a:defRPr>
            </a:pPr>
            <a:r>
              <a:t>浸润增加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2788920"/>
            <a:ext cx="4160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1E"/>
                </a:solidFill>
                <a:latin typeface="Noto Sans CJK SC"/>
              </a:defRPr>
            </a:pPr>
            <a:r>
              <a:t>肿瘤内 CD8⁺ T 细胞比例与免疫荧光密度增加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3401568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35C4B"/>
                </a:solidFill>
                <a:latin typeface="Noto Sans CJK SC"/>
              </a:defRPr>
            </a:pPr>
            <a:r>
              <a:t>功能恢复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3703320"/>
            <a:ext cx="4160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1E"/>
                </a:solidFill>
                <a:latin typeface="Noto Sans CJK SC"/>
              </a:defRPr>
            </a:pPr>
            <a:r>
              <a:t>IFN-γ、TNF-α 及 Ki-67 表达增加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4315968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35C4B"/>
                </a:solidFill>
                <a:latin typeface="Noto Sans CJK SC"/>
              </a:defRPr>
            </a:pPr>
            <a:r>
              <a:t>耗竭缓解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4617720"/>
            <a:ext cx="4160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1E"/>
                </a:solidFill>
                <a:latin typeface="Noto Sans CJK SC"/>
              </a:defRPr>
            </a:pPr>
            <a:r>
              <a:t>PD-1⁺ CD8⁺ T 细胞比例降低；伴肿瘤生长减缓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5486400"/>
            <a:ext cx="416052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35C4B"/>
                </a:solidFill>
                <a:latin typeface="Noto Sans CJK SC"/>
              </a:defRPr>
            </a:pPr>
            <a:r>
              <a:t>CK2 靶向治疗同时影响 T 细胞数量与功能，而非仅抑制肿瘤细胞增殖。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7159752"/>
            <a:ext cx="13213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66F"/>
                </a:solidFill>
                <a:latin typeface="Noto Sans CJK SC"/>
              </a:defRPr>
            </a:pPr>
            <a:r>
              <a:t>Zhang S et al. Exp Hematol Oncol. 2026;15:48. DOI: 10.1186/s40164-026-00778-0 | Fig. 3I–R；主要定量 n=5/组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7132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5C4B"/>
                </a:solidFill>
                <a:latin typeface="Noto Sans CJK SC"/>
              </a:defRPr>
            </a:pPr>
            <a:r>
              <a:t>04 · 联合治疗与免疫记忆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7315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8766F"/>
                </a:solidFill>
                <a:latin typeface="Noto Sans CJK SC"/>
              </a:defRPr>
            </a:pPr>
            <a:r>
              <a:t>联合 PD-L1 阻断增强抑瘤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3075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21E"/>
                </a:solidFill>
                <a:latin typeface="Noto Sans CJK SC"/>
              </a:defRPr>
            </a:pPr>
            <a:r>
              <a:t>联合 PD-L1 阻断增强抑瘤</a:t>
            </a:r>
          </a:p>
        </p:txBody>
      </p:sp>
      <p:pic>
        <p:nvPicPr>
          <p:cNvPr id="8" name="Picture 7" descr="therap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9313" y="2459736"/>
            <a:ext cx="7238645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38360" y="2487168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35C4B"/>
                </a:solidFill>
                <a:latin typeface="Noto Sans CJK SC"/>
              </a:defRPr>
            </a:pPr>
            <a:r>
              <a:t>完全缓解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2788920"/>
            <a:ext cx="4160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1E"/>
                </a:solidFill>
                <a:latin typeface="Noto Sans CJK SC"/>
              </a:defRPr>
            </a:pPr>
            <a:r>
              <a:t>联合组 4/8 只小鼠达到 CR；比例为 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3401568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35C4B"/>
                </a:solidFill>
                <a:latin typeface="Noto Sans CJK SC"/>
              </a:defRPr>
            </a:pPr>
            <a:r>
              <a:t>因果支持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3703320"/>
            <a:ext cx="4160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1E"/>
                </a:solidFill>
                <a:latin typeface="Noto Sans CJK SC"/>
              </a:defRPr>
            </a:pPr>
            <a:r>
              <a:t>耗竭 CD8⁺ T 细胞后，联合抑瘤优势明显减弱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4315968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35C4B"/>
                </a:solidFill>
                <a:latin typeface="Noto Sans CJK SC"/>
              </a:defRPr>
            </a:pPr>
            <a:r>
              <a:t>免疫记忆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4617720"/>
            <a:ext cx="4160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1E"/>
                </a:solidFill>
                <a:latin typeface="Noto Sans CJK SC"/>
              </a:defRPr>
            </a:pPr>
            <a:r>
              <a:t>4 只 CR 小鼠抵抗后续肿瘤再挑战；证据规模有限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5486400"/>
            <a:ext cx="416052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35C4B"/>
                </a:solidFill>
                <a:latin typeface="Noto Sans CJK SC"/>
              </a:defRPr>
            </a:pPr>
            <a:r>
              <a:t>联合获益依赖 CD8⁺ T 细胞；完全缓解与免疫记忆均来自小鼠实验。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7159752"/>
            <a:ext cx="13213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66F"/>
                </a:solidFill>
                <a:latin typeface="Noto Sans CJK SC"/>
              </a:defRPr>
            </a:pPr>
            <a:r>
              <a:t>Zhang S et al. Exp Hematol Oncol. 2026;15:48. DOI: 10.1186/s40164-026-00778-0 | Fig. 4D–H；n=8/组，再挑战 n=4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7132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5C4B"/>
                </a:solidFill>
                <a:latin typeface="Noto Sans CJK SC"/>
              </a:defRPr>
            </a:pPr>
            <a:r>
              <a:t>05 · 可重复性与功能验证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7315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8766F"/>
                </a:solidFill>
                <a:latin typeface="Noto Sans CJK SC"/>
              </a:defRPr>
            </a:pPr>
            <a:r>
              <a:t>多种 CK2 抑制剂支持一致性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3075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21E"/>
                </a:solidFill>
                <a:latin typeface="Noto Sans CJK SC"/>
              </a:defRPr>
            </a:pPr>
            <a:r>
              <a:t>多种 CK2 抑制剂支持一致性</a:t>
            </a:r>
          </a:p>
        </p:txBody>
      </p:sp>
      <p:pic>
        <p:nvPicPr>
          <p:cNvPr id="8" name="Picture 7" descr="valid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1606" y="2459736"/>
            <a:ext cx="6894059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38360" y="2487168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35C4B"/>
                </a:solidFill>
                <a:latin typeface="Noto Sans CJK SC"/>
              </a:defRPr>
            </a:pPr>
            <a:r>
              <a:t>药理学交叉验证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2788920"/>
            <a:ext cx="4160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1E"/>
                </a:solidFill>
                <a:latin typeface="Noto Sans CJK SC"/>
              </a:defRPr>
            </a:pPr>
            <a:r>
              <a:t>TBB、CX4945 和 SGC-CK2-1 均支持联合治疗增益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3401568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35C4B"/>
                </a:solidFill>
                <a:latin typeface="Noto Sans CJK SC"/>
              </a:defRPr>
            </a:pPr>
            <a:r>
              <a:t>效应与记忆表型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3703320"/>
            <a:ext cx="4160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1E"/>
                </a:solidFill>
                <a:latin typeface="Noto Sans CJK SC"/>
              </a:defRPr>
            </a:pPr>
            <a:r>
              <a:t>CD8⁺ 浸润、细胞因子及记忆相关亚群增加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4315968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35C4B"/>
                </a:solidFill>
                <a:latin typeface="Noto Sans CJK SC"/>
              </a:defRPr>
            </a:pPr>
            <a:r>
              <a:t>转化边界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4617720"/>
            <a:ext cx="4160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1E"/>
                </a:solidFill>
                <a:latin typeface="Noto Sans CJK SC"/>
              </a:defRPr>
            </a:pPr>
            <a:r>
              <a:t>体重观察仅反映有限耐受性；仍需系统毒理与临床验证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5486400"/>
            <a:ext cx="416052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35C4B"/>
                </a:solidFill>
                <a:latin typeface="Noto Sans CJK SC"/>
              </a:defRPr>
            </a:pPr>
            <a:r>
              <a:t>三种不同化学结构抑制剂结果趋同，提高 CK2 靶向解释的可信度。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7159752"/>
            <a:ext cx="13213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66F"/>
                </a:solidFill>
                <a:latin typeface="Noto Sans CJK SC"/>
              </a:defRPr>
            </a:pPr>
            <a:r>
              <a:t>Zhang S et al. Exp Hematol Oncol. 2026;15:48. DOI: 10.1186/s40164-026-00778-0 | Fig. 5D–M；n=6/组；另见 Fig.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7132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5C4B"/>
                </a:solidFill>
                <a:latin typeface="Noto Sans CJK SC"/>
              </a:defRPr>
            </a:pPr>
            <a:r>
              <a:t>06 · 翻译后调控证据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7315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8766F"/>
                </a:solidFill>
                <a:latin typeface="Noto Sans CJK SC"/>
              </a:defRPr>
            </a:pPr>
            <a:r>
              <a:t>CK2 抑制降低 PD-L1 蛋白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3075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21E"/>
                </a:solidFill>
                <a:latin typeface="Noto Sans CJK SC"/>
              </a:defRPr>
            </a:pPr>
            <a:r>
              <a:t>CK2 抑制降低 PD-L1 蛋白</a:t>
            </a:r>
          </a:p>
        </p:txBody>
      </p:sp>
      <p:pic>
        <p:nvPicPr>
          <p:cNvPr id="8" name="Picture 7" descr="pdl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3325632"/>
            <a:ext cx="8732520" cy="24744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38360" y="2487168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35C4B"/>
                </a:solidFill>
                <a:latin typeface="Noto Sans CJK SC"/>
              </a:defRPr>
            </a:pPr>
            <a:r>
              <a:t>药效学与表型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2788920"/>
            <a:ext cx="4160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1E"/>
                </a:solidFill>
                <a:latin typeface="Noto Sans CJK SC"/>
              </a:defRPr>
            </a:pPr>
            <a:r>
              <a:t>p-AKT Ser129 降低；多株肺癌细胞表面 PD-L1 下调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3401568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35C4B"/>
                </a:solidFill>
                <a:latin typeface="Noto Sans CJK SC"/>
              </a:defRPr>
            </a:pPr>
            <a:r>
              <a:t>蛋白酶体依赖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3703320"/>
            <a:ext cx="4160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1E"/>
                </a:solidFill>
                <a:latin typeface="Noto Sans CJK SC"/>
              </a:defRPr>
            </a:pPr>
            <a:r>
              <a:t>MG132 可救援 PD-L1 降低；CHX 追踪显示半衰期缩短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4315968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35C4B"/>
                </a:solidFill>
                <a:latin typeface="Noto Sans CJK SC"/>
              </a:defRPr>
            </a:pPr>
            <a:r>
              <a:t>转录—蛋白解耦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4617720"/>
            <a:ext cx="4160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1E"/>
                </a:solidFill>
                <a:latin typeface="Noto Sans CJK SC"/>
              </a:defRPr>
            </a:pPr>
            <a:r>
              <a:t>PD-L1 mRNA 可上调，但蛋白仍下降；提示补偿性转录反馈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5486400"/>
            <a:ext cx="416052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35C4B"/>
                </a:solidFill>
                <a:latin typeface="Noto Sans CJK SC"/>
              </a:defRPr>
            </a:pPr>
            <a:r>
              <a:t>PD-L1 蛋白稳定性而非单一 mRNA 水平，是该机制的关键调控层。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7159752"/>
            <a:ext cx="13213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66F"/>
                </a:solidFill>
                <a:latin typeface="Noto Sans CJK SC"/>
              </a:defRPr>
            </a:pPr>
            <a:r>
              <a:t>Zhang S et al. Exp Hematol Oncol. 2026;15:48. DOI: 10.1186/s40164-026-00778-0 | Fig. 7F–G；Fig. 9A–D；主要实验 n=3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7132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5C4B"/>
                </a:solidFill>
                <a:latin typeface="Noto Sans CJK SC"/>
              </a:defRPr>
            </a:pPr>
            <a:r>
              <a:t>07 · 机制链条：TRAF6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7315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8766F"/>
                </a:solidFill>
                <a:latin typeface="Noto Sans CJK SC"/>
              </a:defRPr>
            </a:pPr>
            <a:r>
              <a:t>TRAF6 连接 CK2 与 PD-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3075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21E"/>
                </a:solidFill>
                <a:latin typeface="Noto Sans CJK SC"/>
              </a:defRPr>
            </a:pPr>
            <a:r>
              <a:t>TRAF6 连接 CK2 与 PD-L1 降解</a:t>
            </a:r>
          </a:p>
        </p:txBody>
      </p:sp>
      <p:pic>
        <p:nvPicPr>
          <p:cNvPr id="8" name="Picture 7" descr="tra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364" y="2459736"/>
            <a:ext cx="8258542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38360" y="2487168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35C4B"/>
                </a:solidFill>
                <a:latin typeface="Noto Sans CJK SC"/>
              </a:defRPr>
            </a:pPr>
            <a:r>
              <a:t>候选发现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2788920"/>
            <a:ext cx="4160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1E"/>
                </a:solidFill>
                <a:latin typeface="Noto Sans CJK SC"/>
              </a:defRPr>
            </a:pPr>
            <a:r>
              <a:t>RNA-seq 富集泛素—蛋白酶体通路；CK2 抑制后 TRAF6 增加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3401568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35C4B"/>
                </a:solidFill>
                <a:latin typeface="Noto Sans CJK SC"/>
              </a:defRPr>
            </a:pPr>
            <a:r>
              <a:t>物理联系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3703320"/>
            <a:ext cx="4160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1E"/>
                </a:solidFill>
                <a:latin typeface="Noto Sans CJK SC"/>
              </a:defRPr>
            </a:pPr>
            <a:r>
              <a:t>内源性 Co-IP 检测到 TRAF6 与 PD-L1 相互作用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4315968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35C4B"/>
                </a:solidFill>
                <a:latin typeface="Noto Sans CJK SC"/>
              </a:defRPr>
            </a:pPr>
            <a:r>
              <a:t>必要性与充分性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4617720"/>
            <a:ext cx="4160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1E"/>
                </a:solidFill>
                <a:latin typeface="Noto Sans CJK SC"/>
              </a:defRPr>
            </a:pPr>
            <a:r>
              <a:t>TRAF6 敲低削弱泛素化；过表达增强 PD-L1 降解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5486400"/>
            <a:ext cx="416052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35C4B"/>
                </a:solidFill>
                <a:latin typeface="Noto Sans CJK SC"/>
              </a:defRPr>
            </a:pPr>
            <a:r>
              <a:t>TRAF6 作为 E3 泛素连接酶，是 CK2 抑制诱导 PD-L1 泛素化的关键介质。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7159752"/>
            <a:ext cx="13213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66F"/>
                </a:solidFill>
                <a:latin typeface="Noto Sans CJK SC"/>
              </a:defRPr>
            </a:pPr>
            <a:r>
              <a:t>Zhang S et al. Exp Hematol Oncol. 2026;15:48. DOI: 10.1186/s40164-026-00778-0 | Fig. 8；Fig. 9A–K；主要实验 n=3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7132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5C4B"/>
                </a:solidFill>
                <a:latin typeface="Noto Sans CJK SC"/>
              </a:defRPr>
            </a:pPr>
            <a:r>
              <a:t>08 · 位点验证与整合模型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7315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8766F"/>
                </a:solidFill>
                <a:latin typeface="Noto Sans CJK SC"/>
              </a:defRPr>
            </a:pPr>
            <a:r>
              <a:t>K281 位点锁定翻译后检查点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3075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21E"/>
                </a:solidFill>
                <a:latin typeface="Noto Sans CJK SC"/>
              </a:defRPr>
            </a:pPr>
            <a:r>
              <a:t>K281 位点锁定翻译后检查点</a:t>
            </a:r>
          </a:p>
        </p:txBody>
      </p:sp>
      <p:pic>
        <p:nvPicPr>
          <p:cNvPr id="8" name="Picture 7" descr="mechanis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6624" y="2459736"/>
            <a:ext cx="7324023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38360" y="2487168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35C4B"/>
                </a:solidFill>
                <a:latin typeface="Noto Sans CJK SC"/>
              </a:defRPr>
            </a:pPr>
            <a:r>
              <a:t>E3 活性依赖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2788920"/>
            <a:ext cx="4160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1E"/>
                </a:solidFill>
                <a:latin typeface="Noto Sans CJK SC"/>
              </a:defRPr>
            </a:pPr>
            <a:r>
              <a:t>TRAF6-C70A 连接酶失活突变，削弱 PD-L1 泛素化及降解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3401568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35C4B"/>
                </a:solidFill>
                <a:latin typeface="Noto Sans CJK SC"/>
              </a:defRPr>
            </a:pPr>
            <a:r>
              <a:t>底物位点依赖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3703320"/>
            <a:ext cx="4160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1E"/>
                </a:solidFill>
                <a:latin typeface="Noto Sans CJK SC"/>
              </a:defRPr>
            </a:pPr>
            <a:r>
              <a:t>PD-L1-K281A 突变降低泛素化，并抵抗相应降解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4315968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35C4B"/>
                </a:solidFill>
                <a:latin typeface="Noto Sans CJK SC"/>
              </a:defRPr>
            </a:pPr>
            <a:r>
              <a:t>免疫后果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4617720"/>
            <a:ext cx="4160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1E"/>
                </a:solidFill>
                <a:latin typeface="Noto Sans CJK SC"/>
              </a:defRPr>
            </a:pPr>
            <a:r>
              <a:t>抑制信号减弱，CD8⁺ 效应恢复，增强 PD-L1 阻断响应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5486400"/>
            <a:ext cx="416052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35C4B"/>
                </a:solidFill>
                <a:latin typeface="Noto Sans CJK SC"/>
              </a:defRPr>
            </a:pPr>
            <a:r>
              <a:t>CK2 抑制 → TRAF6 介导 PD-L1 K281 泛素化 → 蛋白酶体降解。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7159752"/>
            <a:ext cx="13213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66F"/>
                </a:solidFill>
                <a:latin typeface="Noto Sans CJK SC"/>
              </a:defRPr>
            </a:pPr>
            <a:r>
              <a:t>Zhang S et al. Exp Hematol Oncol. 2026;15:48. DOI: 10.1186/s40164-026-00778-0 | Fig. 9L–Q（n=3）；Fig. 10 原始示意图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7132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5C4B"/>
                </a:solidFill>
                <a:latin typeface="Noto Sans CJK SC"/>
              </a:defRPr>
            </a:pPr>
            <a:r>
              <a:t>09 · 讨论与结论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7315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8766F"/>
                </a:solidFill>
                <a:latin typeface="Noto Sans CJK SC"/>
              </a:defRPr>
            </a:pPr>
            <a:r>
              <a:t>转化价值明确临床验证仍待完成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3075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21E"/>
                </a:solidFill>
                <a:latin typeface="Noto Sans CJK SC"/>
              </a:defRPr>
            </a:pPr>
            <a:r>
              <a:t>转化价值明确，临床验证仍待完成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1460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35C4B"/>
                </a:solidFill>
                <a:latin typeface="Noto Sans CJK SC"/>
              </a:defRPr>
            </a:pPr>
            <a:r>
              <a:t>主要贡献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971800"/>
            <a:ext cx="60350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21E"/>
                </a:solidFill>
                <a:latin typeface="Noto Sans CJK SC"/>
              </a:defRPr>
            </a:pPr>
            <a:r>
              <a:t>建立 CK2–TRAF6–PD-L1(K281) 翻译后调控轴，连接免疫重塑与联合疗效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8352" y="251460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35C4B"/>
                </a:solidFill>
                <a:latin typeface="Noto Sans CJK SC"/>
              </a:defRPr>
            </a:pPr>
            <a:r>
              <a:t>核心局限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8352" y="2971800"/>
            <a:ext cx="60350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21E"/>
                </a:solidFill>
                <a:latin typeface="Noto Sans CJK SC"/>
              </a:defRPr>
            </a:pPr>
            <a:r>
              <a:t>临床队列小且回顾性；皮下模型代表性有限；免疫记忆分析样本量不足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34340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35C4B"/>
                </a:solidFill>
                <a:latin typeface="Noto Sans CJK SC"/>
              </a:defRPr>
            </a:pPr>
            <a:r>
              <a:t>优先研究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00600"/>
            <a:ext cx="60350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21E"/>
                </a:solidFill>
                <a:latin typeface="Noto Sans CJK SC"/>
              </a:defRPr>
            </a:pPr>
            <a:r>
              <a:t>验证 CK2α 标志物；优化用药时序与剂量；比较 PD-1 / PD-L1 联合伙伴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8352" y="434340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35C4B"/>
                </a:solidFill>
                <a:latin typeface="Noto Sans CJK SC"/>
              </a:defRPr>
            </a:pPr>
            <a:r>
              <a:t>关键未解问题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8352" y="4800600"/>
            <a:ext cx="60350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21E"/>
                </a:solidFill>
                <a:latin typeface="Noto Sans CJK SC"/>
              </a:defRPr>
            </a:pPr>
            <a:r>
              <a:t>CK2 上游驱动及 CK2–TRAF6 直接调控；需空间分析严格界定免疫排斥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46520"/>
            <a:ext cx="1307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35C4B"/>
                </a:solidFill>
                <a:latin typeface="Noto Sans CJK SC"/>
              </a:defRPr>
            </a:pPr>
            <a:r>
              <a:t>下一步应在前瞻性分层队列及更贴近人类疾病的模型中验证疗效、安全性与标志物。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7159752"/>
            <a:ext cx="13213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66F"/>
                </a:solidFill>
                <a:latin typeface="Noto Sans CJK SC"/>
              </a:defRPr>
            </a:pPr>
            <a:r>
              <a:t>Zhang S et al. Exp Hematol Oncol. 2026;15:48. DOI: 10.1186/s40164-026-00778-0 | Discussion；Conclusions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CK2抑制与肺癌免疫治疗：10页学术汇报</dc:title>
  <dc:subject>基于 Zhang et al., Experimental Hematology &amp; Oncology 2026;15:48</dc:subject>
  <dc:creator>学术文献汇报</dc:creator>
  <cp:lastModifiedBy>Dashi PPT</cp:lastModifiedBy>
  <cp:revision>1</cp:revision>
  <dcterms:created xsi:type="dcterms:W3CDTF">2026-10-19T09:49:23Z</dcterms:created>
  <dcterms:modified xsi:type="dcterms:W3CDTF">2026-10-19T09:49:23Z</dcterms:modified>
</cp:coreProperties>
</file>