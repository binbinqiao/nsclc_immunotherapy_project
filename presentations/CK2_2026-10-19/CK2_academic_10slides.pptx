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20.xml" ContentType="application/vnd.openxmlformats-officedocument.presentationml.slide+xml"/>
  <Override PartName="/ppt/slides/slide24.xml" ContentType="application/vnd.openxmlformats-officedocument.presentationml.slide+xml"/>
  <Override PartName="/ppt/slides/slide28.xml" ContentType="application/vnd.openxmlformats-officedocument.presentationml.slide+xml"/>
  <Override PartName="/ppt/slides/slide32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5"/>
    <p:sldId id="263" r:id="rId9"/>
    <p:sldId id="267" r:id="rId13"/>
    <p:sldId id="271" r:id="rId17"/>
    <p:sldId id="275" r:id="rId21"/>
    <p:sldId id="279" r:id="rId25"/>
    <p:sldId id="283" r:id="rId29"/>
    <p:sldId id="287" r:id="rId33"/>
    <p:sldId id="291" r:id="rId37"/>
    <p:sldId id="295" r:id="rId41"/>
  </p:sldIdLst>
  <p:notesMasterIdLst>
    <p:notesMasterId r:id="rId42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7" Type="http://schemas.openxmlformats.org/officeDocument/2006/relationships/slide" Target="slides/slide16.xml"/><Relationship Id="rId21" Type="http://schemas.openxmlformats.org/officeDocument/2006/relationships/slide" Target="slides/slide20.xml"/><Relationship Id="rId25" Type="http://schemas.openxmlformats.org/officeDocument/2006/relationships/slide" Target="slides/slide24.xml"/><Relationship Id="rId29" Type="http://schemas.openxmlformats.org/officeDocument/2006/relationships/slide" Target="slides/slide28.xml"/><Relationship Id="rId33" Type="http://schemas.openxmlformats.org/officeDocument/2006/relationships/slide" Target="slides/slide32.xml"/><Relationship Id="rId37" Type="http://schemas.openxmlformats.org/officeDocument/2006/relationships/slide" Target="slides/slide36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CK2抑制与肺癌免疫增敏</a:t>
            </a:r>
          </a:p>
          <a:p>
            <a:r>
              <a:t>重塑肿瘤免疫微环境，增强PD-L1阻断疗效</a:t>
            </a:r>
          </a:p>
          <a:p/>
          <a:p>
            <a:r>
              <a:t>研究主题：CK2–TRAF6–PD-L1蛋白稳定性调控轴</a:t>
            </a:r>
          </a:p>
          <a:p/>
          <a:p>
            <a:r>
              <a:t>证据层级：临床关联 × 动物疗效 × 分子机制</a:t>
            </a:r>
          </a:p>
          <a:p/>
          <a:p>
            <a:r>
              <a:t>文献来源：DOI: 10.1186/s40164-026-00778-0</a:t>
            </a:r>
          </a:p>
          <a:p/>
          <a:p>
            <a:r>
              <a:t>Zhang et al.｜Experimental Hematology &amp; Oncology｜2026;15:48</a:t>
            </a:r>
          </a:p>
          <a:p>
            <a:r>
              <a:t>DOI:10.1186/s40164-026-00778-0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从临床现象到机制验证</a:t>
            </a:r>
          </a:p>
          <a:p>
            <a:r>
              <a:t>研究围绕免疫冷环境与PD-L1蛋白稳定性展开</a:t>
            </a:r>
          </a:p>
          <a:p/>
          <a:p>
            <a:r>
              <a:t>临床队列：手术队列104例；独立一线免疫治疗队列20例</a:t>
            </a:r>
          </a:p>
          <a:p/>
          <a:p>
            <a:r>
              <a:t>公共数据：GDC：933份肿瘤与99份正常样本；免疫与预后关联</a:t>
            </a:r>
          </a:p>
          <a:p/>
          <a:p>
            <a:r>
              <a:t>体内研究：LLC/C57BL/6模型；3种CK2抑制剂联合PD-L1抗体</a:t>
            </a:r>
          </a:p>
          <a:p/>
          <a:p>
            <a:r>
              <a:t>机制验证：转录组、流式、CHX追踪、Co-IP及突变/救援实验</a:t>
            </a:r>
          </a:p>
          <a:p/>
          <a:p>
            <a:r>
              <a:t>来源：原文Methods、Fig.1–9｜中文学术汇报</a:t>
            </a:r>
          </a:p>
          <a:p>
            <a:r>
              <a:t>DOI:10.1186/s40164-026-00778-0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CK2α高表达与不良结局相关</a:t>
            </a:r>
          </a:p>
          <a:p>
            <a:r>
              <a:t>高表达伴随免疫抑制与较差预后</a:t>
            </a:r>
          </a:p>
          <a:p/>
          <a:p>
            <a:r>
              <a:t>手术队列：104例：低表达14例、高表达90例；高表达组DFS/OS较差</a:t>
            </a:r>
          </a:p>
          <a:p/>
          <a:p>
            <a:r>
              <a:t>免疫队列：低表达8例：PR 7、SD 1；高表达12例：PD 10、SD 2</a:t>
            </a:r>
          </a:p>
          <a:p/>
          <a:p>
            <a:r>
              <a:t>解读边界：20例队列使用PD-1抗体；不能等同于动物PD-L1联合方案</a:t>
            </a:r>
          </a:p>
          <a:p/>
          <a:p>
            <a:r>
              <a:t>免疫关联：高CK2α与较少CD8⁺T细胞浸润相关</a:t>
            </a:r>
          </a:p>
          <a:p/>
          <a:p>
            <a:r>
              <a:t>来源：Fig.1C（局部原图）、Table 2｜Zhang et al., 2026</a:t>
            </a:r>
          </a:p>
          <a:p>
            <a:r>
              <a:t>DOI:10.1186/s40164-026-00778-0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CK2抑制改善CD8⁺T细胞状态</a:t>
            </a:r>
          </a:p>
          <a:p>
            <a:r>
              <a:t>TBB在免疫完整小鼠中抑瘤并改变免疫表型</a:t>
            </a:r>
          </a:p>
          <a:p/>
          <a:p>
            <a:r>
              <a:t>浸润与增殖：肿瘤内CD8⁺T细胞增加，Ki-67表达升高</a:t>
            </a:r>
          </a:p>
          <a:p/>
          <a:p>
            <a:r>
              <a:t>效应功能：IFN-γ、TNF-α等效应指标提高</a:t>
            </a:r>
          </a:p>
          <a:p/>
          <a:p>
            <a:r>
              <a:t>耗竭表型：PD-1/LAG-3相关表型降低；需结合功能实验解读</a:t>
            </a:r>
          </a:p>
          <a:p/>
          <a:p>
            <a:r>
              <a:t>模型边界：结果来自免疫完整小鼠模型，尚非患者疗效结论</a:t>
            </a:r>
          </a:p>
          <a:p/>
          <a:p>
            <a:r>
              <a:t>来源：Fig.3（J–R区域，局部原图）｜LLC小鼠模型</a:t>
            </a:r>
          </a:p>
          <a:p>
            <a:r>
              <a:t>DOI:10.1186/s40164-026-00778-0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联合治疗获得完全消退</a:t>
            </a:r>
          </a:p>
          <a:p>
            <a:r>
              <a:t>TBB联合PD-L1抗体：8只小鼠中4只肿瘤完全消退</a:t>
            </a:r>
          </a:p>
          <a:p/>
          <a:p>
            <a:r>
              <a:t>疗效：联合组抑瘤强于单药；完全消退4/8（50%）</a:t>
            </a:r>
          </a:p>
          <a:p/>
          <a:p>
            <a:r>
              <a:t>免疫依赖：CD8⁺T细胞耗竭削弱联合治疗获益</a:t>
            </a:r>
          </a:p>
          <a:p/>
          <a:p>
            <a:r>
              <a:t>记忆线索：完全应答小鼠抵抗再次接种；记忆T细胞表型增加</a:t>
            </a:r>
          </a:p>
          <a:p/>
          <a:p>
            <a:r>
              <a:t>耐受观察：体重稳定支持短期耐受，不能替代系统毒性评价</a:t>
            </a:r>
          </a:p>
          <a:p/>
          <a:p>
            <a:r>
              <a:t>来源：Fig.4（局部原图）；CD8耗竭证据见原文Fig.S6描述</a:t>
            </a:r>
          </a:p>
          <a:p>
            <a:r>
              <a:t>DOI:10.1186/s40164-026-00778-0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多种抑制剂提供一致支持</a:t>
            </a:r>
          </a:p>
          <a:p>
            <a:r>
              <a:t>药理交叉验证与T细胞杀伤实验加强证据链</a:t>
            </a:r>
          </a:p>
          <a:p/>
          <a:p>
            <a:r>
              <a:t>药理交叉验证：CX4945、SGC-CK2-1联合PD-L1抗体亦增强LLC抑瘤</a:t>
            </a:r>
          </a:p>
          <a:p/>
          <a:p>
            <a:r>
              <a:t>功能实验：人CD8⁺T细胞/pCasper体系：杀伤加速、活靶细胞减少</a:t>
            </a:r>
          </a:p>
          <a:p/>
          <a:p>
            <a:r>
              <a:t>证据边界：体外实验n=3；不能直接推出患者联合治疗获益</a:t>
            </a:r>
          </a:p>
          <a:p/>
          <a:p>
            <a:r>
              <a:t>检查点：临床队列为PD-1抗体；动物组合为PD-L1抗体</a:t>
            </a:r>
          </a:p>
          <a:p/>
          <a:p>
            <a:r>
              <a:t>来源：Fig.5、Fig.6C–D（局部原图）｜体内与体外证据</a:t>
            </a:r>
          </a:p>
          <a:p>
            <a:r>
              <a:t>DOI:10.1186/s40164-026-00778-0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PD-L1下降源于蛋白周转</a:t>
            </a:r>
          </a:p>
          <a:p>
            <a:r>
              <a:t>CK2抑制促进PD-L1蛋白酶体降解</a:t>
            </a:r>
          </a:p>
          <a:p/>
          <a:p>
            <a:r>
              <a:t>蛋白水平：药物抑制/CK2α敲低均降低PD-L1；MG132可恢复</a:t>
            </a:r>
          </a:p>
          <a:p/>
          <a:p>
            <a:r>
              <a:t>周转证据：CHX追踪显示PD-L1半衰期缩短，支持降解加速</a:t>
            </a:r>
          </a:p>
          <a:p/>
          <a:p>
            <a:r>
              <a:t>转录与蛋白：后期mRNA可代偿性升高；不能概括为转录抑制</a:t>
            </a:r>
          </a:p>
          <a:p/>
          <a:p>
            <a:r>
              <a:t>诱导表达：CK2抑制也减弱IFN-γ诱导的PD-L1上调</a:t>
            </a:r>
          </a:p>
          <a:p/>
          <a:p>
            <a:r>
              <a:t>来源：Fig.7、Fig.8；Fig.9A–C（局部原图）</a:t>
            </a:r>
          </a:p>
          <a:p>
            <a:r>
              <a:t>DOI:10.1186/s40164-026-00778-0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TRAF6与K281构成机制支点</a:t>
            </a:r>
          </a:p>
          <a:p>
            <a:r>
              <a:t>E3连接酶活性及PD-L1特定位点参与降解</a:t>
            </a:r>
          </a:p>
          <a:p/>
          <a:p>
            <a:r>
              <a:t>TRAF6：Co-IP支持互作；TRAF6敲低削弱PD-L1泛素化</a:t>
            </a:r>
          </a:p>
          <a:p/>
          <a:p>
            <a:r>
              <a:t>E3活性：TRAF6过表达增强降解，C70A失活突变削弱效应</a:t>
            </a:r>
          </a:p>
          <a:p/>
          <a:p>
            <a:r>
              <a:t>K281位点：K281A降低泛素化并抵抗降解；定位证据来自预测与功能验证</a:t>
            </a:r>
          </a:p>
          <a:p/>
          <a:p>
            <a:r>
              <a:t>未解问题：CK2与TRAF6之间的直接调控仍需进一步解析</a:t>
            </a:r>
          </a:p>
          <a:p/>
          <a:p>
            <a:r>
              <a:t>来源：Fig.9J–Q（局部原图）；互作与敲低见Fig.9E–I</a:t>
            </a:r>
          </a:p>
          <a:p>
            <a:r>
              <a:t>DOI:10.1186/s40164-026-00778-0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整合模型：蛋白稳态连接免疫</a:t>
            </a:r>
          </a:p>
          <a:p>
            <a:r>
              <a:t>CK2抑制 → TRAF6介导泛素化 → PD-L1降解 → 免疫增敏</a:t>
            </a:r>
          </a:p>
          <a:p/>
          <a:p>
            <a:r>
              <a:t>分子层：PD-L1 K281泛素化及蛋白酶体降解</a:t>
            </a:r>
          </a:p>
          <a:p/>
          <a:p>
            <a:r>
              <a:t>免疫层：CD8⁺T细胞浸润、效应与记忆表型改善</a:t>
            </a:r>
          </a:p>
          <a:p/>
          <a:p>
            <a:r>
              <a:t>治疗层：为CK2抑制联合PD-L1阻断提供临床前依据</a:t>
            </a:r>
          </a:p>
          <a:p/>
          <a:p>
            <a:r>
              <a:t>机制解释：蛋白稳定性变化与后期转录反馈可以并存</a:t>
            </a:r>
          </a:p>
          <a:p/>
          <a:p>
            <a:r>
              <a:t>来源：Fig.10原图｜Zhang et al., 2026</a:t>
            </a:r>
          </a:p>
          <a:p>
            <a:r>
              <a:t>DOI:10.1186/s40164-026-00778-0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转化价值与下一步验证</a:t>
            </a:r>
          </a:p>
          <a:p>
            <a:r>
              <a:t>临床前联合策略，临床获益待验证</a:t>
            </a:r>
          </a:p>
          <a:p/>
          <a:p>
            <a:r>
              <a:t>核心贡献：将CK2、TRAF6、PD-L1蛋白稳定性与T细胞功能相连接</a:t>
            </a:r>
          </a:p>
          <a:p/>
          <a:p>
            <a:r>
              <a:t>临床局限：队列较小、分组不均与残余混杂；需前瞻性验证标志物</a:t>
            </a:r>
          </a:p>
          <a:p/>
          <a:p>
            <a:r>
              <a:t>模型局限：皮下模型及有限记忆实验；CK2–TRAF6直接调控仍需深化</a:t>
            </a:r>
          </a:p>
          <a:p/>
          <a:p>
            <a:r>
              <a:t>转化方向：明确联合伙伴、剂量与时序；补充安全性和空间免疫证据</a:t>
            </a:r>
          </a:p>
          <a:p/>
          <a:p>
            <a:r>
              <a:t>文献：Zhang et al. Exp Hematol Oncol. 2026;15:48. DOI:10.1186/s40164-026-00778-0</a:t>
            </a:r>
          </a:p>
          <a:p>
            <a:r>
              <a:t>DOI:10.1186/s40164-026-00778-0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638830"/>
            <a:ext cx="3429000" cy="2590770"/>
          </a:xfrm>
          <a:prstGeom prst="roundRect">
            <a:avLst>
              <a:gd name="adj" fmla="val 21479"/>
            </a:avLst>
          </a:prstGeom>
          <a:solidFill>
            <a:srgbClr val="B7DC3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6250" y="1595903"/>
            <a:ext cx="6324722" cy="63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51"/>
              </a:lnSpc>
              <a:buNone/>
            </a:pPr>
            <a:r>
              <a:rPr lang="en-US" sz="4560" b="1" spc="-199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CK2抑制与肺癌免疫增敏</a:t>
            </a:r>
            <a:endParaRPr lang="en-US" sz="4560" dirty="0"/>
          </a:p>
        </p:txBody>
      </p:sp>
      <p:sp>
        <p:nvSpPr>
          <p:cNvPr id="7" name="Text 4"/>
          <p:cNvSpPr/>
          <p:nvPr/>
        </p:nvSpPr>
        <p:spPr>
          <a:xfrm>
            <a:off x="716250" y="3347024"/>
            <a:ext cx="5502859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27"/>
              </a:lnSpc>
              <a:buNone/>
            </a:pPr>
            <a:r>
              <a:rPr lang="en-US" sz="2280" b="1" spc="-34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重塑肿瘤免疫微环境，增强PD-L1阻断疗效</a:t>
            </a:r>
            <a:endParaRPr lang="en-US" sz="2280" dirty="0"/>
          </a:p>
        </p:txBody>
      </p:sp>
      <p:sp>
        <p:nvSpPr>
          <p:cNvPr id="8" name="Text 5"/>
          <p:cNvSpPr/>
          <p:nvPr/>
        </p:nvSpPr>
        <p:spPr>
          <a:xfrm>
            <a:off x="716250" y="6819870"/>
            <a:ext cx="4964460" cy="195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260" spc="32" kern="0" dirty="0">
                <a:solidFill>
                  <a:srgbClr val="17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Zhang et al.｜Experimental Hematology &amp; Oncology｜2026;15:48</a:t>
            </a:r>
            <a:endParaRPr lang="en-US" sz="126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48211"/>
            <a:ext cx="5825460" cy="32079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2530" y="5288250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1" name="Text 7"/>
          <p:cNvSpPr/>
          <p:nvPr/>
        </p:nvSpPr>
        <p:spPr>
          <a:xfrm>
            <a:off x="1272570" y="5280660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研究主题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272570" y="5574000"/>
            <a:ext cx="14630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机制：蛋白稳态调控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830" y="4248211"/>
            <a:ext cx="5920740" cy="32079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02550" y="5288250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5" name="Text 10"/>
          <p:cNvSpPr/>
          <p:nvPr/>
        </p:nvSpPr>
        <p:spPr>
          <a:xfrm>
            <a:off x="5722590" y="5280660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证据层级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722590" y="5574000"/>
            <a:ext cx="131061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临床、动物、机制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4940" y="4248211"/>
            <a:ext cx="5825460" cy="320799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52660" y="5288250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9" name="Text 13"/>
          <p:cNvSpPr/>
          <p:nvPr/>
        </p:nvSpPr>
        <p:spPr>
          <a:xfrm>
            <a:off x="10172700" y="5280660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文献来源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0172700" y="5574000"/>
            <a:ext cx="1199784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Zhang等，2026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638830"/>
            <a:ext cx="3429000" cy="2590770"/>
          </a:xfrm>
          <a:prstGeom prst="roundRect">
            <a:avLst>
              <a:gd name="adj" fmla="val 21479"/>
            </a:avLst>
          </a:prstGeom>
          <a:solidFill>
            <a:srgbClr val="B7DC3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6250" y="727223"/>
            <a:ext cx="5625114" cy="63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51"/>
              </a:lnSpc>
              <a:buNone/>
            </a:pPr>
            <a:r>
              <a:rPr lang="en-US" sz="4560" b="1" spc="-199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从临床现象到机制验证</a:t>
            </a:r>
            <a:endParaRPr lang="en-US" sz="4560" dirty="0"/>
          </a:p>
        </p:txBody>
      </p:sp>
      <p:sp>
        <p:nvSpPr>
          <p:cNvPr id="7" name="Text 4"/>
          <p:cNvSpPr/>
          <p:nvPr/>
        </p:nvSpPr>
        <p:spPr>
          <a:xfrm>
            <a:off x="716250" y="1609664"/>
            <a:ext cx="5788975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27"/>
              </a:lnSpc>
              <a:buNone/>
            </a:pPr>
            <a:r>
              <a:rPr lang="en-US" sz="2280" b="1" spc="-34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研究围绕免疫冷环境与PD-L1蛋白稳定性展开</a:t>
            </a:r>
            <a:endParaRPr lang="en-US" sz="2280" dirty="0"/>
          </a:p>
        </p:txBody>
      </p:sp>
      <p:sp>
        <p:nvSpPr>
          <p:cNvPr id="8" name="Text 5"/>
          <p:cNvSpPr/>
          <p:nvPr/>
        </p:nvSpPr>
        <p:spPr>
          <a:xfrm>
            <a:off x="716250" y="6819870"/>
            <a:ext cx="34473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260" spc="32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来源：原文Methods、Fig.1–9｜中文学术汇报</a:t>
            </a:r>
            <a:endParaRPr lang="en-US" sz="126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2171"/>
            <a:ext cx="8050469" cy="32079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2530" y="2682210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1" name="Text 7"/>
          <p:cNvSpPr/>
          <p:nvPr/>
        </p:nvSpPr>
        <p:spPr>
          <a:xfrm>
            <a:off x="1272570" y="2674620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临床队列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272570" y="2967960"/>
            <a:ext cx="1594165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手术104例；免疫20例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931" y="1642171"/>
            <a:ext cx="8050469" cy="32079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27650" y="2682210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5" name="Text 10"/>
          <p:cNvSpPr/>
          <p:nvPr/>
        </p:nvSpPr>
        <p:spPr>
          <a:xfrm>
            <a:off x="7947690" y="2674620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公共数据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947690" y="2967960"/>
            <a:ext cx="1594165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肿瘤933例；正常99例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79531"/>
            <a:ext cx="8050469" cy="320799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52530" y="4419570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9" name="Text 13"/>
          <p:cNvSpPr/>
          <p:nvPr/>
        </p:nvSpPr>
        <p:spPr>
          <a:xfrm>
            <a:off x="1272570" y="4411980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体内研究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272570" y="4705320"/>
            <a:ext cx="14630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三种抑制剂交叉验证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931" y="3379531"/>
            <a:ext cx="8050469" cy="320799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27650" y="4419570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23" name="Text 16"/>
          <p:cNvSpPr/>
          <p:nvPr/>
        </p:nvSpPr>
        <p:spPr>
          <a:xfrm>
            <a:off x="7947690" y="4411980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机制验证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7947690" y="4705320"/>
            <a:ext cx="115827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组学与功能救援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638830"/>
            <a:ext cx="3429000" cy="2590770"/>
          </a:xfrm>
          <a:prstGeom prst="roundRect">
            <a:avLst>
              <a:gd name="adj" fmla="val 21479"/>
            </a:avLst>
          </a:prstGeom>
          <a:solidFill>
            <a:srgbClr val="B7DC3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6250" y="727223"/>
            <a:ext cx="7237933" cy="63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51"/>
              </a:lnSpc>
              <a:buNone/>
            </a:pPr>
            <a:r>
              <a:rPr lang="en-US" sz="4560" b="1" spc="-199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CK2α高表达与不良结局相关</a:t>
            </a:r>
            <a:endParaRPr lang="en-US" sz="4560" dirty="0"/>
          </a:p>
        </p:txBody>
      </p:sp>
      <p:sp>
        <p:nvSpPr>
          <p:cNvPr id="7" name="Text 4"/>
          <p:cNvSpPr/>
          <p:nvPr/>
        </p:nvSpPr>
        <p:spPr>
          <a:xfrm>
            <a:off x="716250" y="1609664"/>
            <a:ext cx="4096695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27"/>
              </a:lnSpc>
              <a:buNone/>
            </a:pPr>
            <a:r>
              <a:rPr lang="en-US" sz="2280" b="1" spc="-34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高表达伴随免疫抑制与较差预后</a:t>
            </a:r>
            <a:endParaRPr lang="en-US" sz="2280" dirty="0"/>
          </a:p>
        </p:txBody>
      </p:sp>
      <p:sp>
        <p:nvSpPr>
          <p:cNvPr id="8" name="Text 5"/>
          <p:cNvSpPr/>
          <p:nvPr/>
        </p:nvSpPr>
        <p:spPr>
          <a:xfrm>
            <a:off x="716250" y="6819870"/>
            <a:ext cx="4130528" cy="195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260" spc="32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来源：Fig.1C（局部原图）、Table 2｜Zhang et al., 2026</a:t>
            </a:r>
            <a:endParaRPr lang="en-US" sz="1260" dirty="0"/>
          </a:p>
        </p:txBody>
      </p:sp>
      <p:sp>
        <p:nvSpPr>
          <p:cNvPr id="9" name="Shape 6"/>
          <p:cNvSpPr/>
          <p:nvPr/>
        </p:nvSpPr>
        <p:spPr>
          <a:xfrm>
            <a:off x="716250" y="2453610"/>
            <a:ext cx="7635240" cy="4190970"/>
          </a:xfrm>
          <a:prstGeom prst="roundRect">
            <a:avLst>
              <a:gd name="adj" fmla="val 2766"/>
            </a:avLst>
          </a:prstGeom>
          <a:solidFill>
            <a:srgbClr val="FFFFFF"/>
          </a:solidFill>
          <a:ln w="9525">
            <a:solidFill>
              <a:srgbClr val="CBD4CF"/>
            </a:solidFill>
            <a:prstDash val="solid"/>
          </a:ln>
          <a:effectLst>
            <a:outerShdw sx="100000" sy="100000" kx="0" ky="0" algn="bl" rotWithShape="0" blurRad="304800" dist="171450" dir="5400000">
              <a:srgbClr val="234236">
                <a:alpha val="11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3930" y="2461290"/>
            <a:ext cx="7619970" cy="417579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30" y="2461290"/>
            <a:ext cx="7619970" cy="417579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390" y="1642171"/>
            <a:ext cx="6938010" cy="581403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40110" y="2682210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4" name="Text 8"/>
          <p:cNvSpPr/>
          <p:nvPr/>
        </p:nvSpPr>
        <p:spPr>
          <a:xfrm>
            <a:off x="9060150" y="2674620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手术队列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9060150" y="2967960"/>
            <a:ext cx="131061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高表达组预后较差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8740110" y="3374868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7" name="Text 11"/>
          <p:cNvSpPr/>
          <p:nvPr/>
        </p:nvSpPr>
        <p:spPr>
          <a:xfrm>
            <a:off x="9060150" y="3367187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免疫队列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9060150" y="3660618"/>
            <a:ext cx="115827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低表达应答更多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740110" y="4067434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20" name="Text 14"/>
          <p:cNvSpPr/>
          <p:nvPr/>
        </p:nvSpPr>
        <p:spPr>
          <a:xfrm>
            <a:off x="9060150" y="4059753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解读边界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9060150" y="4353184"/>
            <a:ext cx="131061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关联尚待前瞻验证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740110" y="4760001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23" name="Text 17"/>
          <p:cNvSpPr/>
          <p:nvPr/>
        </p:nvSpPr>
        <p:spPr>
          <a:xfrm>
            <a:off x="9060150" y="4752411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免疫关联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060150" y="5045751"/>
            <a:ext cx="995873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CD8浸润较少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638830"/>
            <a:ext cx="3429000" cy="2590770"/>
          </a:xfrm>
          <a:prstGeom prst="roundRect">
            <a:avLst>
              <a:gd name="adj" fmla="val 21479"/>
            </a:avLst>
          </a:prstGeom>
          <a:solidFill>
            <a:srgbClr val="B7DC3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6250" y="727223"/>
            <a:ext cx="7577907" cy="63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51"/>
              </a:lnSpc>
              <a:buNone/>
            </a:pPr>
            <a:r>
              <a:rPr lang="en-US" sz="4560" b="1" spc="-199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CK2抑制改善CD8⁺T细胞状态</a:t>
            </a:r>
            <a:endParaRPr lang="en-US" sz="4560" dirty="0"/>
          </a:p>
        </p:txBody>
      </p:sp>
      <p:sp>
        <p:nvSpPr>
          <p:cNvPr id="7" name="Text 4"/>
          <p:cNvSpPr/>
          <p:nvPr/>
        </p:nvSpPr>
        <p:spPr>
          <a:xfrm>
            <a:off x="716250" y="1609664"/>
            <a:ext cx="5548305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27"/>
              </a:lnSpc>
              <a:buNone/>
            </a:pPr>
            <a:r>
              <a:rPr lang="en-US" sz="2280" b="1" spc="-34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TBB在免疫完整小鼠中抑瘤并改变免疫表型</a:t>
            </a:r>
            <a:endParaRPr lang="en-US" sz="2280" dirty="0"/>
          </a:p>
        </p:txBody>
      </p:sp>
      <p:sp>
        <p:nvSpPr>
          <p:cNvPr id="8" name="Text 5"/>
          <p:cNvSpPr/>
          <p:nvPr/>
        </p:nvSpPr>
        <p:spPr>
          <a:xfrm>
            <a:off x="716250" y="6819870"/>
            <a:ext cx="3787079" cy="195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260" spc="32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来源：Fig.3（J–R区域，局部原图）｜LLC小鼠模型</a:t>
            </a:r>
            <a:endParaRPr lang="en-US" sz="1260" dirty="0"/>
          </a:p>
        </p:txBody>
      </p:sp>
      <p:sp>
        <p:nvSpPr>
          <p:cNvPr id="9" name="Shape 6"/>
          <p:cNvSpPr/>
          <p:nvPr/>
        </p:nvSpPr>
        <p:spPr>
          <a:xfrm>
            <a:off x="716250" y="2453610"/>
            <a:ext cx="7635240" cy="4190970"/>
          </a:xfrm>
          <a:prstGeom prst="roundRect">
            <a:avLst>
              <a:gd name="adj" fmla="val 2766"/>
            </a:avLst>
          </a:prstGeom>
          <a:solidFill>
            <a:srgbClr val="FFFFFF"/>
          </a:solidFill>
          <a:ln w="9525">
            <a:solidFill>
              <a:srgbClr val="CBD4CF"/>
            </a:solidFill>
            <a:prstDash val="solid"/>
          </a:ln>
          <a:effectLst>
            <a:outerShdw sx="100000" sy="100000" kx="0" ky="0" algn="bl" rotWithShape="0" blurRad="304800" dist="171450" dir="5400000">
              <a:srgbClr val="234236">
                <a:alpha val="11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3930" y="2461290"/>
            <a:ext cx="7619970" cy="417579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30" y="2461290"/>
            <a:ext cx="7619970" cy="417579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390" y="1642171"/>
            <a:ext cx="6938010" cy="581403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40110" y="2682210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4" name="Text 8"/>
          <p:cNvSpPr/>
          <p:nvPr/>
        </p:nvSpPr>
        <p:spPr>
          <a:xfrm>
            <a:off x="9060150" y="2674620"/>
            <a:ext cx="104406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浸润与增殖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9060150" y="2967960"/>
            <a:ext cx="1453073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CD8浸润与增殖增加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8740110" y="3374868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7" name="Text 11"/>
          <p:cNvSpPr/>
          <p:nvPr/>
        </p:nvSpPr>
        <p:spPr>
          <a:xfrm>
            <a:off x="9060150" y="3367187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效应功能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9060150" y="3660618"/>
            <a:ext cx="131061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细胞因子效应增强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740110" y="4067434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20" name="Text 14"/>
          <p:cNvSpPr/>
          <p:nvPr/>
        </p:nvSpPr>
        <p:spPr>
          <a:xfrm>
            <a:off x="9060150" y="4059753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耗竭表型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9060150" y="4353184"/>
            <a:ext cx="131061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耗竭相关表型减少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740110" y="4760001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23" name="Text 17"/>
          <p:cNvSpPr/>
          <p:nvPr/>
        </p:nvSpPr>
        <p:spPr>
          <a:xfrm>
            <a:off x="9060150" y="4752411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模型边界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060150" y="5045751"/>
            <a:ext cx="14630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动物证据需临床验证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638830"/>
            <a:ext cx="3429000" cy="2590770"/>
          </a:xfrm>
          <a:prstGeom prst="roundRect">
            <a:avLst>
              <a:gd name="adj" fmla="val 21479"/>
            </a:avLst>
          </a:prstGeom>
          <a:solidFill>
            <a:srgbClr val="B7DC3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6250" y="727223"/>
            <a:ext cx="5625114" cy="63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51"/>
              </a:lnSpc>
              <a:buNone/>
            </a:pPr>
            <a:r>
              <a:rPr lang="en-US" sz="4560" b="1" spc="-199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联合治疗获得完全消退</a:t>
            </a:r>
            <a:endParaRPr lang="en-US" sz="4560" dirty="0"/>
          </a:p>
        </p:txBody>
      </p:sp>
      <p:sp>
        <p:nvSpPr>
          <p:cNvPr id="7" name="Text 4"/>
          <p:cNvSpPr/>
          <p:nvPr/>
        </p:nvSpPr>
        <p:spPr>
          <a:xfrm>
            <a:off x="716250" y="1609664"/>
            <a:ext cx="6434633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27"/>
              </a:lnSpc>
              <a:buNone/>
            </a:pPr>
            <a:r>
              <a:rPr lang="en-US" sz="2280" b="1" spc="-34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TBB联合PD-L1抗体：8只小鼠中4只肿瘤完全消退</a:t>
            </a:r>
            <a:endParaRPr lang="en-US" sz="2280" dirty="0"/>
          </a:p>
        </p:txBody>
      </p:sp>
      <p:sp>
        <p:nvSpPr>
          <p:cNvPr id="8" name="Text 5"/>
          <p:cNvSpPr/>
          <p:nvPr/>
        </p:nvSpPr>
        <p:spPr>
          <a:xfrm>
            <a:off x="716250" y="6819870"/>
            <a:ext cx="4264762" cy="195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260" spc="32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来源：Fig.4（局部原图）；CD8耗竭证据见原文Fig.S6描述</a:t>
            </a:r>
            <a:endParaRPr lang="en-US" sz="1260" dirty="0"/>
          </a:p>
        </p:txBody>
      </p:sp>
      <p:sp>
        <p:nvSpPr>
          <p:cNvPr id="9" name="Shape 6"/>
          <p:cNvSpPr/>
          <p:nvPr/>
        </p:nvSpPr>
        <p:spPr>
          <a:xfrm>
            <a:off x="716250" y="2453610"/>
            <a:ext cx="7635240" cy="4190970"/>
          </a:xfrm>
          <a:prstGeom prst="roundRect">
            <a:avLst>
              <a:gd name="adj" fmla="val 2766"/>
            </a:avLst>
          </a:prstGeom>
          <a:solidFill>
            <a:srgbClr val="FFFFFF"/>
          </a:solidFill>
          <a:ln w="9525">
            <a:solidFill>
              <a:srgbClr val="CBD4CF"/>
            </a:solidFill>
            <a:prstDash val="solid"/>
          </a:ln>
          <a:effectLst>
            <a:outerShdw sx="100000" sy="100000" kx="0" ky="0" algn="bl" rotWithShape="0" blurRad="304800" dist="171450" dir="5400000">
              <a:srgbClr val="234236">
                <a:alpha val="11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3930" y="2461290"/>
            <a:ext cx="7619970" cy="417579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30" y="2461290"/>
            <a:ext cx="7619970" cy="417579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390" y="1642171"/>
            <a:ext cx="6938010" cy="581403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40110" y="2682210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4" name="Text 8"/>
          <p:cNvSpPr/>
          <p:nvPr/>
        </p:nvSpPr>
        <p:spPr>
          <a:xfrm>
            <a:off x="9060150" y="2674620"/>
            <a:ext cx="47548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疗效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9060150" y="2967960"/>
            <a:ext cx="973836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完全消退4/8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8740110" y="3374868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7" name="Text 11"/>
          <p:cNvSpPr/>
          <p:nvPr/>
        </p:nvSpPr>
        <p:spPr>
          <a:xfrm>
            <a:off x="9060150" y="3367187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免疫依赖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9060150" y="3660618"/>
            <a:ext cx="1300643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CD8耗竭削弱获益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740110" y="4067434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20" name="Text 14"/>
          <p:cNvSpPr/>
          <p:nvPr/>
        </p:nvSpPr>
        <p:spPr>
          <a:xfrm>
            <a:off x="9060150" y="4059753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记忆线索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9060150" y="4353184"/>
            <a:ext cx="14630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再挑战提示免疫记忆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740110" y="4760001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23" name="Text 17"/>
          <p:cNvSpPr/>
          <p:nvPr/>
        </p:nvSpPr>
        <p:spPr>
          <a:xfrm>
            <a:off x="9060150" y="4752411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耐受观察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060150" y="5045751"/>
            <a:ext cx="14630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体重稳定，仍需毒理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638830"/>
            <a:ext cx="3429000" cy="2590770"/>
          </a:xfrm>
          <a:prstGeom prst="roundRect">
            <a:avLst>
              <a:gd name="adj" fmla="val 21479"/>
            </a:avLst>
          </a:prstGeom>
          <a:solidFill>
            <a:srgbClr val="B7DC3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6250" y="727223"/>
            <a:ext cx="6183996" cy="63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51"/>
              </a:lnSpc>
              <a:buNone/>
            </a:pPr>
            <a:r>
              <a:rPr lang="en-US" sz="4560" b="1" spc="-199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多种抑制剂提供一致支持</a:t>
            </a:r>
            <a:endParaRPr lang="en-US" sz="4560" dirty="0"/>
          </a:p>
        </p:txBody>
      </p:sp>
      <p:sp>
        <p:nvSpPr>
          <p:cNvPr id="7" name="Text 4"/>
          <p:cNvSpPr/>
          <p:nvPr/>
        </p:nvSpPr>
        <p:spPr>
          <a:xfrm>
            <a:off x="716250" y="1609664"/>
            <a:ext cx="5423215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27"/>
              </a:lnSpc>
              <a:buNone/>
            </a:pPr>
            <a:r>
              <a:rPr lang="en-US" sz="2280" b="1" spc="-34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药理交叉验证与T细胞杀伤实验加强证据链</a:t>
            </a:r>
            <a:endParaRPr lang="en-US" sz="2280" dirty="0"/>
          </a:p>
        </p:txBody>
      </p:sp>
      <p:sp>
        <p:nvSpPr>
          <p:cNvPr id="8" name="Text 5"/>
          <p:cNvSpPr/>
          <p:nvPr/>
        </p:nvSpPr>
        <p:spPr>
          <a:xfrm>
            <a:off x="716250" y="6819870"/>
            <a:ext cx="3973342" cy="195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260" spc="32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来源：Fig.5、Fig.6C–D（局部原图）｜体内与体外证据</a:t>
            </a:r>
            <a:endParaRPr lang="en-US" sz="1260" dirty="0"/>
          </a:p>
        </p:txBody>
      </p:sp>
      <p:sp>
        <p:nvSpPr>
          <p:cNvPr id="9" name="Shape 6"/>
          <p:cNvSpPr/>
          <p:nvPr/>
        </p:nvSpPr>
        <p:spPr>
          <a:xfrm>
            <a:off x="716250" y="2453610"/>
            <a:ext cx="7635240" cy="4190970"/>
          </a:xfrm>
          <a:prstGeom prst="roundRect">
            <a:avLst>
              <a:gd name="adj" fmla="val 2766"/>
            </a:avLst>
          </a:prstGeom>
          <a:solidFill>
            <a:srgbClr val="FFFFFF"/>
          </a:solidFill>
          <a:ln w="9525">
            <a:solidFill>
              <a:srgbClr val="CBD4CF"/>
            </a:solidFill>
            <a:prstDash val="solid"/>
          </a:ln>
          <a:effectLst>
            <a:outerShdw sx="100000" sy="100000" kx="0" ky="0" algn="bl" rotWithShape="0" blurRad="304800" dist="171450" dir="5400000">
              <a:srgbClr val="234236">
                <a:alpha val="11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3930" y="2461290"/>
            <a:ext cx="7619970" cy="417579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30" y="2461290"/>
            <a:ext cx="7619970" cy="417579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390" y="1642171"/>
            <a:ext cx="6938010" cy="581403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40110" y="2682210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4" name="Text 8"/>
          <p:cNvSpPr/>
          <p:nvPr/>
        </p:nvSpPr>
        <p:spPr>
          <a:xfrm>
            <a:off x="9060150" y="2674620"/>
            <a:ext cx="1234531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药理交叉验证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9060150" y="2967960"/>
            <a:ext cx="14630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不同抑制剂效果一致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8740110" y="3374868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7" name="Text 11"/>
          <p:cNvSpPr/>
          <p:nvPr/>
        </p:nvSpPr>
        <p:spPr>
          <a:xfrm>
            <a:off x="9060150" y="3367187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功能实验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9060150" y="3660618"/>
            <a:ext cx="10058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活靶细胞减少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740110" y="4067434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20" name="Text 14"/>
          <p:cNvSpPr/>
          <p:nvPr/>
        </p:nvSpPr>
        <p:spPr>
          <a:xfrm>
            <a:off x="9060150" y="4059753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证据边界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9060150" y="4353184"/>
            <a:ext cx="667512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体外n=3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740110" y="4760001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23" name="Text 17"/>
          <p:cNvSpPr/>
          <p:nvPr/>
        </p:nvSpPr>
        <p:spPr>
          <a:xfrm>
            <a:off x="9060150" y="4752411"/>
            <a:ext cx="663031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检查点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060150" y="5045751"/>
            <a:ext cx="131061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两类检查点需区分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638830"/>
            <a:ext cx="3429000" cy="2590770"/>
          </a:xfrm>
          <a:prstGeom prst="roundRect">
            <a:avLst>
              <a:gd name="adj" fmla="val 21479"/>
            </a:avLst>
          </a:prstGeom>
          <a:solidFill>
            <a:srgbClr val="B7DC3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6250" y="727223"/>
            <a:ext cx="6240231" cy="63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51"/>
              </a:lnSpc>
              <a:buNone/>
            </a:pPr>
            <a:r>
              <a:rPr lang="en-US" sz="4560" b="1" spc="-199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PD-L1下降源于蛋白周转</a:t>
            </a:r>
            <a:endParaRPr lang="en-US" sz="4560" dirty="0"/>
          </a:p>
        </p:txBody>
      </p:sp>
      <p:sp>
        <p:nvSpPr>
          <p:cNvPr id="7" name="Text 4"/>
          <p:cNvSpPr/>
          <p:nvPr/>
        </p:nvSpPr>
        <p:spPr>
          <a:xfrm>
            <a:off x="716250" y="1609664"/>
            <a:ext cx="4370649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27"/>
              </a:lnSpc>
              <a:buNone/>
            </a:pPr>
            <a:r>
              <a:rPr lang="en-US" sz="2280" b="1" spc="-34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CK2抑制促进PD-L1蛋白酶体降解</a:t>
            </a:r>
            <a:endParaRPr lang="en-US" sz="2280" dirty="0"/>
          </a:p>
        </p:txBody>
      </p:sp>
      <p:sp>
        <p:nvSpPr>
          <p:cNvPr id="8" name="Text 5"/>
          <p:cNvSpPr/>
          <p:nvPr/>
        </p:nvSpPr>
        <p:spPr>
          <a:xfrm>
            <a:off x="716250" y="6819870"/>
            <a:ext cx="3432543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260" spc="32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来源：Fig.7、Fig.8；Fig.9A–C（局部原图）</a:t>
            </a:r>
            <a:endParaRPr lang="en-US" sz="126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2171"/>
            <a:ext cx="14630400" cy="320799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79531"/>
            <a:ext cx="8050469" cy="40766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2530" y="4419570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2" name="Text 7"/>
          <p:cNvSpPr/>
          <p:nvPr/>
        </p:nvSpPr>
        <p:spPr>
          <a:xfrm>
            <a:off x="1272570" y="4411980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蛋白水平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272570" y="4705320"/>
            <a:ext cx="14630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蛋白酶体抑制可救援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952530" y="5112228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5" name="Text 10"/>
          <p:cNvSpPr/>
          <p:nvPr/>
        </p:nvSpPr>
        <p:spPr>
          <a:xfrm>
            <a:off x="1272570" y="5104547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周转证据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272570" y="5397978"/>
            <a:ext cx="1315212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PD-L1半衰期缩短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931" y="3379531"/>
            <a:ext cx="8050469" cy="407667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27650" y="4419570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9" name="Text 13"/>
          <p:cNvSpPr/>
          <p:nvPr/>
        </p:nvSpPr>
        <p:spPr>
          <a:xfrm>
            <a:off x="7947690" y="4411980"/>
            <a:ext cx="104406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转录与蛋白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947690" y="4705320"/>
            <a:ext cx="14630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转录与蛋白变化不同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627650" y="5112228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22" name="Text 16"/>
          <p:cNvSpPr/>
          <p:nvPr/>
        </p:nvSpPr>
        <p:spPr>
          <a:xfrm>
            <a:off x="7947690" y="5104547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诱导表达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947690" y="5397978"/>
            <a:ext cx="1315212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诱导性PD-L1受抑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638830"/>
            <a:ext cx="3429000" cy="2590770"/>
          </a:xfrm>
          <a:prstGeom prst="roundRect">
            <a:avLst>
              <a:gd name="adj" fmla="val 21479"/>
            </a:avLst>
          </a:prstGeom>
          <a:solidFill>
            <a:srgbClr val="B7DC3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6250" y="727223"/>
            <a:ext cx="7499177" cy="63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51"/>
              </a:lnSpc>
              <a:buNone/>
            </a:pPr>
            <a:r>
              <a:rPr lang="en-US" sz="4560" b="1" spc="-199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TRAF6与K281构成机制支点</a:t>
            </a:r>
            <a:endParaRPr lang="en-US" sz="4560" dirty="0"/>
          </a:p>
        </p:txBody>
      </p:sp>
      <p:sp>
        <p:nvSpPr>
          <p:cNvPr id="7" name="Text 4"/>
          <p:cNvSpPr/>
          <p:nvPr/>
        </p:nvSpPr>
        <p:spPr>
          <a:xfrm>
            <a:off x="716250" y="1609664"/>
            <a:ext cx="5294010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27"/>
              </a:lnSpc>
              <a:buNone/>
            </a:pPr>
            <a:r>
              <a:rPr lang="en-US" sz="2280" b="1" spc="-34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E3连接酶活性及PD-L1特定位点参与降解</a:t>
            </a:r>
            <a:endParaRPr lang="en-US" sz="2280" dirty="0"/>
          </a:p>
        </p:txBody>
      </p:sp>
      <p:sp>
        <p:nvSpPr>
          <p:cNvPr id="8" name="Text 5"/>
          <p:cNvSpPr/>
          <p:nvPr/>
        </p:nvSpPr>
        <p:spPr>
          <a:xfrm>
            <a:off x="716250" y="6819870"/>
            <a:ext cx="3878976" cy="195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260" spc="32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来源：Fig.9J–Q（局部原图）；互作与敲低见Fig.9E–I</a:t>
            </a:r>
            <a:endParaRPr lang="en-US" sz="1260" dirty="0"/>
          </a:p>
        </p:txBody>
      </p:sp>
      <p:sp>
        <p:nvSpPr>
          <p:cNvPr id="9" name="Shape 6"/>
          <p:cNvSpPr/>
          <p:nvPr/>
        </p:nvSpPr>
        <p:spPr>
          <a:xfrm>
            <a:off x="716250" y="2453610"/>
            <a:ext cx="7635240" cy="4190970"/>
          </a:xfrm>
          <a:prstGeom prst="roundRect">
            <a:avLst>
              <a:gd name="adj" fmla="val 2766"/>
            </a:avLst>
          </a:prstGeom>
          <a:solidFill>
            <a:srgbClr val="FFFFFF"/>
          </a:solidFill>
          <a:ln w="9525">
            <a:solidFill>
              <a:srgbClr val="CBD4CF"/>
            </a:solidFill>
            <a:prstDash val="solid"/>
          </a:ln>
          <a:effectLst>
            <a:outerShdw sx="100000" sy="100000" kx="0" ky="0" algn="bl" rotWithShape="0" blurRad="304800" dist="171450" dir="5400000">
              <a:srgbClr val="234236">
                <a:alpha val="11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3930" y="2461290"/>
            <a:ext cx="7619970" cy="417579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30" y="2461290"/>
            <a:ext cx="7619970" cy="417579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390" y="1642171"/>
            <a:ext cx="6938010" cy="581403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40110" y="2682210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4" name="Text 8"/>
          <p:cNvSpPr/>
          <p:nvPr/>
        </p:nvSpPr>
        <p:spPr>
          <a:xfrm>
            <a:off x="9060150" y="2674620"/>
            <a:ext cx="71932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TRAF6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9060150" y="2967960"/>
            <a:ext cx="115827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互作与敲低支持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8740110" y="3374868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7" name="Text 11"/>
          <p:cNvSpPr/>
          <p:nvPr/>
        </p:nvSpPr>
        <p:spPr>
          <a:xfrm>
            <a:off x="9060150" y="3367187"/>
            <a:ext cx="71932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E3活性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9060150" y="3660618"/>
            <a:ext cx="131061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失活突变削弱效应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740110" y="4067434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20" name="Text 14"/>
          <p:cNvSpPr/>
          <p:nvPr/>
        </p:nvSpPr>
        <p:spPr>
          <a:xfrm>
            <a:off x="9060150" y="4059753"/>
            <a:ext cx="96316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K281位点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9060150" y="4353184"/>
            <a:ext cx="1182624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K281A抵抗降解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740110" y="4760001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23" name="Text 17"/>
          <p:cNvSpPr/>
          <p:nvPr/>
        </p:nvSpPr>
        <p:spPr>
          <a:xfrm>
            <a:off x="9060150" y="4752411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未解问题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060150" y="5045751"/>
            <a:ext cx="131061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上游调控尚待深化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638830"/>
            <a:ext cx="3429000" cy="2590770"/>
          </a:xfrm>
          <a:prstGeom prst="roundRect">
            <a:avLst>
              <a:gd name="adj" fmla="val 21479"/>
            </a:avLst>
          </a:prstGeom>
          <a:solidFill>
            <a:srgbClr val="B7DC3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6250" y="727223"/>
            <a:ext cx="7301667" cy="63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51"/>
              </a:lnSpc>
              <a:buNone/>
            </a:pPr>
            <a:r>
              <a:rPr lang="en-US" sz="4560" b="1" spc="-199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整合模型：蛋白稳态连接免疫</a:t>
            </a:r>
            <a:endParaRPr lang="en-US" sz="4560" dirty="0"/>
          </a:p>
        </p:txBody>
      </p:sp>
      <p:sp>
        <p:nvSpPr>
          <p:cNvPr id="7" name="Text 4"/>
          <p:cNvSpPr/>
          <p:nvPr/>
        </p:nvSpPr>
        <p:spPr>
          <a:xfrm>
            <a:off x="716250" y="1609664"/>
            <a:ext cx="734875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27"/>
              </a:lnSpc>
              <a:buNone/>
            </a:pPr>
            <a:r>
              <a:rPr lang="en-US" sz="2280" b="1" spc="-34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CK2抑制 → TRAF6介导泛素化 → PD-L1降解 → 免疫增敏</a:t>
            </a:r>
            <a:endParaRPr lang="en-US" sz="2280" dirty="0"/>
          </a:p>
        </p:txBody>
      </p:sp>
      <p:sp>
        <p:nvSpPr>
          <p:cNvPr id="8" name="Text 5"/>
          <p:cNvSpPr/>
          <p:nvPr/>
        </p:nvSpPr>
        <p:spPr>
          <a:xfrm>
            <a:off x="716250" y="6819870"/>
            <a:ext cx="3220317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260" spc="32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来源：Fig.10原图｜Zhang et al., 2026</a:t>
            </a:r>
            <a:endParaRPr lang="en-US" sz="1260" dirty="0"/>
          </a:p>
        </p:txBody>
      </p:sp>
      <p:sp>
        <p:nvSpPr>
          <p:cNvPr id="9" name="Shape 6"/>
          <p:cNvSpPr/>
          <p:nvPr/>
        </p:nvSpPr>
        <p:spPr>
          <a:xfrm>
            <a:off x="716250" y="2453610"/>
            <a:ext cx="7635240" cy="4190970"/>
          </a:xfrm>
          <a:prstGeom prst="roundRect">
            <a:avLst>
              <a:gd name="adj" fmla="val 2766"/>
            </a:avLst>
          </a:prstGeom>
          <a:solidFill>
            <a:srgbClr val="FFFFFF"/>
          </a:solidFill>
          <a:ln w="9525">
            <a:solidFill>
              <a:srgbClr val="CBD4CF"/>
            </a:solidFill>
            <a:prstDash val="solid"/>
          </a:ln>
          <a:effectLst>
            <a:outerShdw sx="100000" sy="100000" kx="0" ky="0" algn="bl" rotWithShape="0" blurRad="304800" dist="171450" dir="5400000">
              <a:srgbClr val="234236">
                <a:alpha val="11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3930" y="2461290"/>
            <a:ext cx="7619970" cy="417579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30" y="2461290"/>
            <a:ext cx="7619970" cy="417579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390" y="1642171"/>
            <a:ext cx="6938010" cy="581403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40110" y="2682210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4" name="Text 8"/>
          <p:cNvSpPr/>
          <p:nvPr/>
        </p:nvSpPr>
        <p:spPr>
          <a:xfrm>
            <a:off x="9060150" y="2674620"/>
            <a:ext cx="663031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分子层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9060150" y="2967960"/>
            <a:ext cx="10058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泛素化与降解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8740110" y="3374868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7" name="Text 11"/>
          <p:cNvSpPr/>
          <p:nvPr/>
        </p:nvSpPr>
        <p:spPr>
          <a:xfrm>
            <a:off x="9060150" y="3367187"/>
            <a:ext cx="663031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免疫层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9060150" y="3660618"/>
            <a:ext cx="995873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CD8功能改善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740110" y="4067434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20" name="Text 14"/>
          <p:cNvSpPr/>
          <p:nvPr/>
        </p:nvSpPr>
        <p:spPr>
          <a:xfrm>
            <a:off x="9060150" y="4059753"/>
            <a:ext cx="663031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治疗层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9060150" y="4353184"/>
            <a:ext cx="14630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支持临床前联合策略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740110" y="4760001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23" name="Text 17"/>
          <p:cNvSpPr/>
          <p:nvPr/>
        </p:nvSpPr>
        <p:spPr>
          <a:xfrm>
            <a:off x="9060150" y="4752411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机制解释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060150" y="5045751"/>
            <a:ext cx="115827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区分蛋白与转录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638830"/>
            <a:ext cx="3429000" cy="2590770"/>
          </a:xfrm>
          <a:prstGeom prst="roundRect">
            <a:avLst>
              <a:gd name="adj" fmla="val 21479"/>
            </a:avLst>
          </a:prstGeom>
          <a:solidFill>
            <a:srgbClr val="B7DC3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6250" y="727223"/>
            <a:ext cx="5625114" cy="63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51"/>
              </a:lnSpc>
              <a:buNone/>
            </a:pPr>
            <a:r>
              <a:rPr lang="en-US" sz="4560" b="1" spc="-199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转化价值与下一步验证</a:t>
            </a:r>
            <a:endParaRPr lang="en-US" sz="4560" dirty="0"/>
          </a:p>
        </p:txBody>
      </p:sp>
      <p:sp>
        <p:nvSpPr>
          <p:cNvPr id="7" name="Text 4"/>
          <p:cNvSpPr/>
          <p:nvPr/>
        </p:nvSpPr>
        <p:spPr>
          <a:xfrm>
            <a:off x="716250" y="1609664"/>
            <a:ext cx="4382811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27"/>
              </a:lnSpc>
              <a:buNone/>
            </a:pPr>
            <a:r>
              <a:rPr lang="en-US" sz="2280" b="1" spc="-34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临床前联合策略，临床获益待验证</a:t>
            </a:r>
            <a:endParaRPr lang="en-US" sz="2280" dirty="0"/>
          </a:p>
        </p:txBody>
      </p:sp>
      <p:sp>
        <p:nvSpPr>
          <p:cNvPr id="8" name="Text 5"/>
          <p:cNvSpPr/>
          <p:nvPr/>
        </p:nvSpPr>
        <p:spPr>
          <a:xfrm>
            <a:off x="716250" y="6819870"/>
            <a:ext cx="6539606" cy="195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260" spc="32" kern="0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文献：Zhang et al. Exp Hematol Oncol. 2026;15:48. DOI:10.1186/s40164-026-00778-0</a:t>
            </a:r>
            <a:endParaRPr lang="en-US" sz="126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2171"/>
            <a:ext cx="8050469" cy="32079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2530" y="2682210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1" name="Text 7"/>
          <p:cNvSpPr/>
          <p:nvPr/>
        </p:nvSpPr>
        <p:spPr>
          <a:xfrm>
            <a:off x="1272570" y="2674620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核心贡献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272570" y="2967960"/>
            <a:ext cx="115827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连接稳态与免疫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931" y="1642171"/>
            <a:ext cx="8050469" cy="32079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27650" y="2682210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5" name="Text 10"/>
          <p:cNvSpPr/>
          <p:nvPr/>
        </p:nvSpPr>
        <p:spPr>
          <a:xfrm>
            <a:off x="7947690" y="2674620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临床局限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947690" y="2967960"/>
            <a:ext cx="131061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小样本与残余混杂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79531"/>
            <a:ext cx="8050469" cy="320799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52530" y="4419570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19" name="Text 13"/>
          <p:cNvSpPr/>
          <p:nvPr/>
        </p:nvSpPr>
        <p:spPr>
          <a:xfrm>
            <a:off x="1272570" y="4411980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模型局限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272570" y="4705320"/>
            <a:ext cx="10058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模型外推有限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931" y="3379531"/>
            <a:ext cx="8050469" cy="320799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27650" y="4419570"/>
            <a:ext cx="19271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188" b="1" dirty="0">
                <a:solidFill>
                  <a:srgbClr val="23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1188" dirty="0"/>
          </a:p>
        </p:txBody>
      </p:sp>
      <p:sp>
        <p:nvSpPr>
          <p:cNvPr id="23" name="Text 16"/>
          <p:cNvSpPr/>
          <p:nvPr/>
        </p:nvSpPr>
        <p:spPr>
          <a:xfrm>
            <a:off x="7947690" y="4411980"/>
            <a:ext cx="8535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2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转化方向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7947690" y="4705320"/>
            <a:ext cx="131061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68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前瞻验证与安全性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Deck Export</dc:title>
  <dc:subject>Editable PPTX export</dc:subject>
  <dc:creator>Dashi PPT</dc:creator>
  <cp:lastModifiedBy>Dashi PPT</cp:lastModifiedBy>
  <cp:revision>1</cp:revision>
  <dcterms:created xsi:type="dcterms:W3CDTF">2026-10-19T15:15:27Z</dcterms:created>
  <dcterms:modified xsi:type="dcterms:W3CDTF">2026-10-19T15:15:27Z</dcterms:modified>
</cp:coreProperties>
</file>